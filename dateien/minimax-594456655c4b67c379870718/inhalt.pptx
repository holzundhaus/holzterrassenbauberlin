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errassenbauberlin.blogspot.com/2026/10/holzterrasse-am-hang-aufbau-mit.html" TargetMode="External"/><Relationship Id="rId3" Type="http://schemas.openxmlformats.org/officeDocument/2006/relationships/hyperlink" Target="https://holzundhaus.github.io/holzterrassenbauberlin/dateien/minimax-594456655c4b67c37987071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am Hang: Aufbau mit Stelzlagern und Punktfundamenten · Erklärende Präsentation</a:t>
            </a:r>
          </a:p>
        </p:txBody>
      </p:sp>
      <p:sp>
        <p:nvSpPr>
          <p:cNvPr id="3" name="Content Placeholder 2"/>
          <p:cNvSpPr>
            <a:spLocks noGrp="1"/>
          </p:cNvSpPr>
          <p:nvPr>
            <p:ph idx="1"/>
          </p:nvPr>
        </p:nvSpPr>
        <p:spPr/>
        <p:txBody>
          <a:bodyPr/>
          <a:lstStyle/>
          <a:p>
            <a:r>
              <a:t>Überblick: Eine Holzterrasse am Hang verlangt mehr als die Auswahl eines Belags: Gefälle, Baugrund, Wasserwege und Höhenunterschiede müssen zusammenpassen. Der zentrale Einstieg lautet daher: Welche Aufbauvariante passt zu den vorhandenen Bedingungen, ohne die Standsicherheit zu gefährden? Der folgende Leitfaden ordnet Stelzlager, Punktfundamente und durchgehenden Höhenausgleich ein und führt Schritt für Schritt von der Bestandsaufnahme zur ausführbaren Planung. Die dargestellten Orientierungswerte und Anforderungen basieren auf dem [Beitrag zum Aufbau am Hang](https://holzterrassenbauberlin.blogspot.com/2026/10/holzterrasse-am-hang-aufbau-mi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Hanglage zuerst vollständig erfassen</a:t>
            </a:r>
          </a:p>
        </p:txBody>
      </p:sp>
      <p:sp>
        <p:nvSpPr>
          <p:cNvPr id="3" name="Content Placeholder 2"/>
          <p:cNvSpPr>
            <a:spLocks noGrp="1"/>
          </p:cNvSpPr>
          <p:nvPr>
            <p:ph idx="1"/>
          </p:nvPr>
        </p:nvSpPr>
        <p:spPr/>
        <p:txBody>
          <a:bodyPr/>
          <a:lstStyle/>
          <a:p>
            <a:pPr>
              <a:defRPr sz="1800"/>
            </a:pPr>
            <a:r>
              <a:t>Beginnen Sie mit einer Bestandsaufnahme der geplanten Fläche, nicht mit dem Materialkatalog. Ermitteln Sie den größten Höhenunterschied, die Neigung, den Zustand des Untergrunds und den Verlauf möglicher Wasserwege. Wichtig sind außerdem die Höhe von Türen, Fenstern und angrenzenden Bauteilen sowie die vorgesehene Nutzung und die daraus erwarteten Lasten. Fotos und ein maßstäblicher Höhenplan helfen, unterschiedliche Geländehöhen und problematische Stellen sichtbar zu machen. Auch alte Fundamente, verdichtete Flächen, Schotter oder eine vorhandene Platte gehören in diese Analyse. Ohne diese Angaben lässt sich weder die erforderliche Aufbauhöh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Hanglage zuerst vollständig erfassen</a:t>
            </a:r>
          </a:p>
        </p:txBody>
      </p:sp>
      <p:sp>
        <p:nvSpPr>
          <p:cNvPr id="3" name="Content Placeholder 2"/>
          <p:cNvSpPr>
            <a:spLocks noGrp="1"/>
          </p:cNvSpPr>
          <p:nvPr>
            <p:ph idx="1"/>
          </p:nvPr>
        </p:nvSpPr>
        <p:spPr/>
        <p:txBody>
          <a:bodyPr/>
          <a:lstStyle/>
          <a:p>
            <a:pPr>
              <a:defRPr sz="1800"/>
            </a:pPr>
            <a:r>
              <a:t>e noch die passende Auflagerart zuverlässig bestimmen.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Stelzlager, Punktfundamente oder Höhenausgleich</a:t>
            </a:r>
          </a:p>
        </p:txBody>
      </p:sp>
      <p:sp>
        <p:nvSpPr>
          <p:cNvPr id="3" name="Content Placeholder 2"/>
          <p:cNvSpPr>
            <a:spLocks noGrp="1"/>
          </p:cNvSpPr>
          <p:nvPr>
            <p:ph idx="1"/>
          </p:nvPr>
        </p:nvSpPr>
        <p:spPr/>
        <p:txBody>
          <a:bodyPr/>
          <a:lstStyle/>
          <a:p>
            <a:pPr>
              <a:defRPr sz="1800"/>
            </a:pPr>
            <a:r>
              <a:t>Stelzlager eignen sich laut dem Ausgangsbeitrag für bereits befestigte Flächen, geringe bis mittlere Höhenunterschiede von weniger Zentimetern bis etwa 30 Zentimetern sowie für einen trockenen, relatively low construction effort. Sie bieten flexible Höhenanpassung und gute Belüftung, ohne dass größere Erdarbeiten nötig sind. Bei weichem Untergrund, sehr großen Höhen oder ausgeprägtem Hangdruck reichen sie jedoch möglicherweise nicht aus. Punktfundamente kommen insbesondere bei Erdreich, größeren Höhenunterschieden und dem Anspruch einer dauerhaft fixierten, tragfähigen Lösung infrage. Sie erfordern mehr Aushub und Betonarbeit. Ein durchgehend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Stelzlager, Punktfundamente oder Höhenausgleich</a:t>
            </a:r>
          </a:p>
        </p:txBody>
      </p:sp>
      <p:sp>
        <p:nvSpPr>
          <p:cNvPr id="3" name="Content Placeholder 2"/>
          <p:cNvSpPr>
            <a:spLocks noGrp="1"/>
          </p:cNvSpPr>
          <p:nvPr>
            <p:ph idx="1"/>
          </p:nvPr>
        </p:nvSpPr>
        <p:spPr/>
        <p:txBody>
          <a:bodyPr/>
          <a:lstStyle/>
          <a:p>
            <a:pPr>
              <a:defRPr sz="1800"/>
            </a:pPr>
            <a:r>
              <a:t>er Höhenausgleich kann bei kleineren Flächen oder moderatem Gefälle sinnvoll sein, benötigt jedoch ausreichend Platz und eine sorgfältig geplante Wasserführung.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und Sicherung gegen Hangdruck</a:t>
            </a:r>
          </a:p>
        </p:txBody>
      </p:sp>
      <p:sp>
        <p:nvSpPr>
          <p:cNvPr id="3" name="Content Placeholder 2"/>
          <p:cNvSpPr>
            <a:spLocks noGrp="1"/>
          </p:cNvSpPr>
          <p:nvPr>
            <p:ph idx="1"/>
          </p:nvPr>
        </p:nvSpPr>
        <p:spPr/>
        <p:txBody>
          <a:bodyPr/>
          <a:lstStyle/>
          <a:p>
            <a:pPr>
              <a:defRPr sz="1800"/>
            </a:pPr>
            <a:r>
              <a:t>Am Hang wirken nicht nur senkrechte Lasten aus Dielen, Unterkonstruktion und Nutzung. Es kommt zusätzlich eine hangabwärts gerichtete Kraft hinzu. Auflager müssen daher so angeordnet und dimensioniert sein, dass die Lasten dauerhaft in den Baugrund geleitet werden und sich nicht an einzelnen Punkten konzentrieren. Bei Punktfundamenten ist eine ausreichende Einbindung in den Baugrund zu berücksichtigen. Leicht gebaute Stelzlager können bei fehlender Verankerung wandern oder kippen. Lassen Sie Auflagerdimensionierung, Einbindetiefe und Anordnung deshalb nicht erst nach der Materialwahl festlegen. Die Ausführung muss zudem zum tatsächlichen Gefä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und Sicherung gegen Hangdruck</a:t>
            </a:r>
          </a:p>
        </p:txBody>
      </p:sp>
      <p:sp>
        <p:nvSpPr>
          <p:cNvPr id="3" name="Content Placeholder 2"/>
          <p:cNvSpPr>
            <a:spLocks noGrp="1"/>
          </p:cNvSpPr>
          <p:nvPr>
            <p:ph idx="1"/>
          </p:nvPr>
        </p:nvSpPr>
        <p:spPr/>
        <p:txBody>
          <a:bodyPr/>
          <a:lstStyle/>
          <a:p>
            <a:pPr>
              <a:defRPr sz="1800"/>
            </a:pPr>
            <a:r>
              <a:t>lle passen; geneigte oder gestaffelte Fundamentpunkte können in einer Hanglage erforderlich sein.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und Holzschutz gemeinsam planen</a:t>
            </a:r>
          </a:p>
        </p:txBody>
      </p:sp>
      <p:sp>
        <p:nvSpPr>
          <p:cNvPr id="3" name="Content Placeholder 2"/>
          <p:cNvSpPr>
            <a:spLocks noGrp="1"/>
          </p:cNvSpPr>
          <p:nvPr>
            <p:ph idx="1"/>
          </p:nvPr>
        </p:nvSpPr>
        <p:spPr/>
        <p:txBody>
          <a:bodyPr/>
          <a:lstStyle/>
          <a:p>
            <a:pPr>
              <a:defRPr sz="1800"/>
            </a:pPr>
            <a:r>
              <a:t>Regenwasser benötigt einen kontrollierten Weg. Es sollte weder unter der Terrasse stehen bleiben noch unkontrolliert durch die Konstruktion fließen. Planen Sie deshalb eine klar definierte wasserführende Ebene, offene Fugen an der Talseite und einen erreichbaren Ablauf. Unter einer dichten Konstruktion sinkt zudem die Luftzirkulation. Halten Sie zwischen Auflager und Boden Abstand, verkleinern Sie Kontaktflächen und lassen Sie Hohlräume frei, damit feuchtes Holz nach Regen wieder abtrocknen kann. Ergänzende Hinweise zu Wasser, Luft und Aufbau finden sich im Ratgeber zur [Unterkonstruktion](https://www.holzterrassenbauberlin.de/ratgeber/unterk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und Holzschutz gemeinsam planen</a:t>
            </a:r>
          </a:p>
        </p:txBody>
      </p:sp>
      <p:sp>
        <p:nvSpPr>
          <p:cNvPr id="3" name="Content Placeholder 2"/>
          <p:cNvSpPr>
            <a:spLocks noGrp="1"/>
          </p:cNvSpPr>
          <p:nvPr>
            <p:ph idx="1"/>
          </p:nvPr>
        </p:nvSpPr>
        <p:spPr/>
        <p:txBody>
          <a:bodyPr/>
          <a:lstStyle/>
          <a:p>
            <a:pPr>
              <a:defRPr sz="1800"/>
            </a:pPr>
            <a:r>
              <a:t>onstruktion/). Hierbei handelt es sich um eine Planungsgrundlage; örtliche Vorgaben und die tatsächliche Ausführbarkeit sind gesondert zu prüfen.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Entscheidung zum belastbaren Projekt</a:t>
            </a:r>
          </a:p>
        </p:txBody>
      </p:sp>
      <p:sp>
        <p:nvSpPr>
          <p:cNvPr id="3" name="Content Placeholder 2"/>
          <p:cNvSpPr>
            <a:spLocks noGrp="1"/>
          </p:cNvSpPr>
          <p:nvPr>
            <p:ph idx="1"/>
          </p:nvPr>
        </p:nvSpPr>
        <p:spPr/>
        <p:txBody>
          <a:bodyPr/>
          <a:lstStyle/>
          <a:p>
            <a:pPr>
              <a:defRPr sz="1800"/>
            </a:pPr>
            <a:r>
              <a:t>Halten Sie die wichtigsten Entscheidungen schriftlich fest: gewählte Aufbauvariante, Höhenbezug, Untergrundzustand, Auflagerpositionen, Art der Verankerung, Anschluss an Türschwellen oder angrenzende Bauteile sowie die geplante Wasserableitung. Das reduziert das Risiko, dass einzelne Details während der Montage improvisiert werden. Prüfen Sie außerdem, ob ein einheitlicher Höhenausgleich tatsächlich sinnvoll ist oder punktuelle Auflager die bessere Lösung darstellen. Als belastbare Projektbeschreibung dienen mindestens Fläche, Gefälle, Höhenunterschied, Baugrund, Aufbauhöhe und Nutzung. Mit diesen Angaben lassen sich Varianten nachvollziehbar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Entscheidung zum belastbaren Projekt</a:t>
            </a:r>
          </a:p>
        </p:txBody>
      </p:sp>
      <p:sp>
        <p:nvSpPr>
          <p:cNvPr id="3" name="Content Placeholder 2"/>
          <p:cNvSpPr>
            <a:spLocks noGrp="1"/>
          </p:cNvSpPr>
          <p:nvPr>
            <p:ph idx="1"/>
          </p:nvPr>
        </p:nvSpPr>
        <p:spPr/>
        <p:txBody>
          <a:bodyPr/>
          <a:lstStyle/>
          <a:p>
            <a:pPr>
              <a:defRPr sz="1800"/>
            </a:pPr>
            <a:r>
              <a:t> vergleichen und die erforderlichen Schritte fachlich abstimmen, bevor Material bestellt oder Erdarbeiten beginnen.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am Hang: Aufbau mit Stelzlagern und Punktfundamenten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