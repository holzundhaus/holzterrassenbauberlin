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errassenbauberlin.wordpress.com/2026/10/25/terrassenholz-lagern-lieferung-akklimatisierung/" TargetMode="External"/><Relationship Id="rId3" Type="http://schemas.openxmlformats.org/officeDocument/2006/relationships/hyperlink" Target="https://holzundhaus.github.io/holzterrassenbauberlin/dateien/minimax-4a769701fd31f82495b20ec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Terrassenholz richtig lagern: Lieferung, Stapelung und Akklimatisierung · Erklärende Präsentation</a:t>
            </a:r>
          </a:p>
        </p:txBody>
      </p:sp>
      <p:sp>
        <p:nvSpPr>
          <p:cNvPr id="3" name="Content Placeholder 2"/>
          <p:cNvSpPr>
            <a:spLocks noGrp="1"/>
          </p:cNvSpPr>
          <p:nvPr>
            <p:ph idx="1"/>
          </p:nvPr>
        </p:nvSpPr>
        <p:spPr/>
        <p:txBody>
          <a:bodyPr/>
          <a:lstStyle/>
          <a:p>
            <a:r>
              <a:t>Überblick: Terrassenholz beginnt seine wichtigste Phase nicht erst mit dem ersten verlegten Brett, sondern bereits bei der Lieferung. Zwischen Annahme, Lagerung und Montage entscheidet sich, ob das Material später ruhig liegt oder sich verzieht. Der folgende Überblick zeigt, wie eine geordnete Lagerung die Akklimatisierung unterstützt und welche Punkte bei Untergrund, Stapelung, Abdeckung und Montage zusammengedacht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Lagerung vor der Montage zählt</a:t>
            </a:r>
          </a:p>
        </p:txBody>
      </p:sp>
      <p:sp>
        <p:nvSpPr>
          <p:cNvPr id="3" name="Content Placeholder 2"/>
          <p:cNvSpPr>
            <a:spLocks noGrp="1"/>
          </p:cNvSpPr>
          <p:nvPr>
            <p:ph idx="1"/>
          </p:nvPr>
        </p:nvSpPr>
        <p:spPr/>
        <p:txBody>
          <a:bodyPr/>
          <a:lstStyle/>
          <a:p>
            <a:pPr>
              <a:defRPr sz="1800"/>
            </a:pPr>
            <a:r>
              <a:t>Holz nimmt Feuchte aus der Umgebung auf und gibt sie wieder ab. Diese natürliche Bewegung bleibt auch nach dem Sägen und Hobeln bestehen. Wer Dielen sofort verlegt, passt sie unter Umgebungsbedingungen an, die möglicherweise nicht zum Lieferzustand passen. Die Folge können Verformungen, Schüsselungen oder veränderte Fugen sein. Eine sorgfältige Lagerphase verschiebt diesen Prozess in eine Situation, in der die Bretter noch frei liegen und nicht durch Nachbarbretter oder Befestigungen in ihrer Bewegung eingeschränkt sind. Der Holzarten-Ratgeber der Hauptseite beschreibt bereits, wie Feuchtegehalt, Brettbreite und Schnittlage das Verformungsver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Lagerung vor der Montage zählt</a:t>
            </a:r>
          </a:p>
        </p:txBody>
      </p:sp>
      <p:sp>
        <p:nvSpPr>
          <p:cNvPr id="3" name="Content Placeholder 2"/>
          <p:cNvSpPr>
            <a:spLocks noGrp="1"/>
          </p:cNvSpPr>
          <p:nvPr>
            <p:ph idx="1"/>
          </p:nvPr>
        </p:nvSpPr>
        <p:spPr/>
        <p:txBody>
          <a:bodyPr/>
          <a:lstStyle/>
          <a:p>
            <a:pPr>
              <a:defRPr sz="1800"/>
            </a:pPr>
            <a:r>
              <a:t>halten beeinflussen. Die Lagerung ergänzt diese Materialkenntnis um den praktischen Umgang zwischen Lieferung und Einbau.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Lieferung vorbereiten</a:t>
            </a:r>
          </a:p>
        </p:txBody>
      </p:sp>
      <p:sp>
        <p:nvSpPr>
          <p:cNvPr id="3" name="Content Placeholder 2"/>
          <p:cNvSpPr>
            <a:spLocks noGrp="1"/>
          </p:cNvSpPr>
          <p:nvPr>
            <p:ph idx="1"/>
          </p:nvPr>
        </p:nvSpPr>
        <p:spPr/>
        <p:txBody>
          <a:bodyPr/>
          <a:lstStyle/>
          <a:p>
            <a:pPr>
              <a:defRPr sz="1800"/>
            </a:pPr>
            <a:r>
              <a:t>Vor der Annahme sollte eine geeignete Lagerfläche feststehen. Trockene, beschattete und gut belüftete Plätze sind günstig. Der direkte Kontakt mit feuchtem Boden sollte vermieden werden, weil von unten Feuchtigkeit in das Holz gelangen kann. Als Unterlage kommen beispielsweise verdichteter Kies, Asphalt oder eine trockene Betonfläche infrage. Rasen und feuchtes Erdreich sind weniger geeignet. Außerdem braucht die Fläche genügend Platz, damit die Dielen weder gekrümmt noch schräg abgelegt werden müssen. Für die Abdeckung ist eine atmungsaktive Plane sinnvoll. Sie schützt vor Regen und starker Sonne, ohne die Luftzirkulation vollständig zu unte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Lieferung vorbereiten</a:t>
            </a:r>
          </a:p>
        </p:txBody>
      </p:sp>
      <p:sp>
        <p:nvSpPr>
          <p:cNvPr id="3" name="Content Placeholder 2"/>
          <p:cNvSpPr>
            <a:spLocks noGrp="1"/>
          </p:cNvSpPr>
          <p:nvPr>
            <p:ph idx="1"/>
          </p:nvPr>
        </p:nvSpPr>
        <p:spPr/>
        <p:txBody>
          <a:bodyPr/>
          <a:lstStyle/>
          <a:p>
            <a:pPr>
              <a:defRPr sz="1800"/>
            </a:pPr>
            <a:r>
              <a:t>rbinden. Ein weiterer Grund, die Lieferung gut vorzubereiten, ist die Kontrolle der gelieferten Ware: Sortierung, Brettbreiten und erkennbare Feuchteschäden lassen sich leichter beurteilen, solange die Dielen noch einzeln zugänglich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Gleichmäßig stapeln und Luft zirkulieren lassen</a:t>
            </a:r>
          </a:p>
        </p:txBody>
      </p:sp>
      <p:sp>
        <p:nvSpPr>
          <p:cNvPr id="3" name="Content Placeholder 2"/>
          <p:cNvSpPr>
            <a:spLocks noGrp="1"/>
          </p:cNvSpPr>
          <p:nvPr>
            <p:ph idx="1"/>
          </p:nvPr>
        </p:nvSpPr>
        <p:spPr/>
        <p:txBody>
          <a:bodyPr/>
          <a:lstStyle/>
          <a:p>
            <a:pPr>
              <a:defRPr sz="1800"/>
            </a:pPr>
            <a:r>
              <a:t>Ein gleichmäßiger Stapel ist wichtiger als ein möglichst kompakter. Unterlagen aus trockenen, gleichartigen Kanthölzern oder Latten schaffen eine ebene Basis. Zwischen den einzelnen Brettern sollten wenige Millimeter Abstand bleiben, damit Luft an jede Diele herankommt. Direkte Sonneneinstrahlung und eine luftdichte Folie können beide problematisch werden: Sonne fördert einseitiges Schwinden, während unter dichter Abdeckung Kondenswasser entstehen kann. Stockflecken und Schimmel werden dadurch begünstigt. Die Grundregel lautet daher, das Holz vor stärkerer direkter Sonne zu schützen, aber gleichzeitig eine ausreichende Belüftung zu erhalten.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Gleichmäßig stapeln und Luft zirkulieren lassen</a:t>
            </a:r>
          </a:p>
        </p:txBody>
      </p:sp>
      <p:sp>
        <p:nvSpPr>
          <p:cNvPr id="3" name="Content Placeholder 2"/>
          <p:cNvSpPr>
            <a:spLocks noGrp="1"/>
          </p:cNvSpPr>
          <p:nvPr>
            <p:ph idx="1"/>
          </p:nvPr>
        </p:nvSpPr>
        <p:spPr/>
        <p:txBody>
          <a:bodyPr/>
          <a:lstStyle/>
          <a:p>
            <a:pPr>
              <a:defRPr sz="1800"/>
            </a:pPr>
            <a:r>
              <a:t>Bei der Lagerung sollte außerdem darauf geachtet werden, dass alle Bretter gleichmäßig behandelt werden. Vereinzelt auffällige oder stark beschädigte Dielen lassen sich vor der Montage aussortieren, bevor sie in der fertigen Terrasse zu einem Problem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Akklimatisierung ohne starre Frist</a:t>
            </a:r>
          </a:p>
        </p:txBody>
      </p:sp>
      <p:sp>
        <p:nvSpPr>
          <p:cNvPr id="3" name="Content Placeholder 2"/>
          <p:cNvSpPr>
            <a:spLocks noGrp="1"/>
          </p:cNvSpPr>
          <p:nvPr>
            <p:ph idx="1"/>
          </p:nvPr>
        </p:nvSpPr>
        <p:spPr/>
        <p:txBody>
          <a:bodyPr/>
          <a:lstStyle/>
          <a:p>
            <a:pPr>
              <a:defRPr sz="1800"/>
            </a:pPr>
            <a:r>
              <a:t>Eine pauschale Dauer für die Akklimatisierung lässt sich nicht seriös festlegen. Ausgangsfeuchte, Holzart, Brettbreite, Schnittlage und das Klima am Einbauort beeinflussen den Prozess. Thermisch behandeltes Holz kann sich im Feuchtehaushalt anders verhalten als unbehandelte Lärche oder Robinie. Auch Rift- und Halbriftbretter reagieren grundsätzlich auf Feuchte, während breitere Bretter wegen ihrer höheren Quell- und Schwindbewegung stärker auffallen können. Als grobe Orientierung nennt der Beitrag zur Lieferung wenige Tage bei ähnlichem Klima bis hin zu mehreren Wochen bei deutlich abweichenden Lieferbedingungen. Entscheidend ist nicht ein ei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Akklimatisierung ohne starre Frist</a:t>
            </a:r>
          </a:p>
        </p:txBody>
      </p:sp>
      <p:sp>
        <p:nvSpPr>
          <p:cNvPr id="3" name="Content Placeholder 2"/>
          <p:cNvSpPr>
            <a:spLocks noGrp="1"/>
          </p:cNvSpPr>
          <p:nvPr>
            <p:ph idx="1"/>
          </p:nvPr>
        </p:nvSpPr>
        <p:spPr/>
        <p:txBody>
          <a:bodyPr/>
          <a:lstStyle/>
          <a:p>
            <a:pPr>
              <a:defRPr sz="1800"/>
            </a:pPr>
            <a:r>
              <a:t>nzelner Stichtag, sondern ein zunehmender Angleicher des Holzes an die Umgebung. Unsicherheit lässt sich durch Messungen an mehreren Stellen reduzieren. Die Werte sollten mit den Angaben des Herstellers abgeglichen werden, statt allein nach einem Kalender zu entscheiden.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Lagerung und Montage als Einheit planen</a:t>
            </a:r>
          </a:p>
        </p:txBody>
      </p:sp>
      <p:sp>
        <p:nvSpPr>
          <p:cNvPr id="3" name="Content Placeholder 2"/>
          <p:cNvSpPr>
            <a:spLocks noGrp="1"/>
          </p:cNvSpPr>
          <p:nvPr>
            <p:ph idx="1"/>
          </p:nvPr>
        </p:nvSpPr>
        <p:spPr/>
        <p:txBody>
          <a:bodyPr/>
          <a:lstStyle/>
          <a:p>
            <a:pPr>
              <a:defRPr sz="1800"/>
            </a:pPr>
            <a:r>
              <a:t>Eine gute Lagerung wirkt nur dann vollständig, wenn auch die Montage die Materialbewegung berücksichtigt. Dazu gehören passende Befestigungen, Fugen und eine Unterkonstruktion, die Wasser ableitet und für Belüftung sorgt. Diese Punkte stehen nicht im Widerspruch zur Akklimatisierung: Das Holz muss sich weiterhin bewegen können, während es sich an das jeweilige Klima und die Nutzungsbedingungen anpasst. Wer Materialwahl, Sortierung, Lagerung und Aufbau gemeinsam plant, verringert das Risiko, dass die Terrasse bereits in der ersten Saison unrund wirkt. Die Phase zwischen Lieferung und Montage ist deshalb ein eigener Arbeitsschritt. Der Überblic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Lagerung und Montage als Einheit planen</a:t>
            </a:r>
          </a:p>
        </p:txBody>
      </p:sp>
      <p:sp>
        <p:nvSpPr>
          <p:cNvPr id="3" name="Content Placeholder 2"/>
          <p:cNvSpPr>
            <a:spLocks noGrp="1"/>
          </p:cNvSpPr>
          <p:nvPr>
            <p:ph idx="1"/>
          </p:nvPr>
        </p:nvSpPr>
        <p:spPr/>
        <p:txBody>
          <a:bodyPr/>
          <a:lstStyle/>
          <a:p>
            <a:pPr>
              <a:defRPr sz="1800"/>
            </a:pPr>
            <a:r>
              <a:t>k zum richtigen Lagern von Terrassenholz bietet dafür eine praktische Grundlage; der Holzarten-Ratgeber ergänzt die Auswahl der passenden Holzart und Sortierung.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Terrassenholz richtig lagern: Lieferung, Stapelung und Akklimatisierung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