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errassenbauberlin/holzterrasse-pflege-jahreslauf-saisonal/" TargetMode="External"/><Relationship Id="rId3" Type="http://schemas.openxmlformats.org/officeDocument/2006/relationships/hyperlink" Target="https://holzundhaus.github.io/holzterrassenbauberlin/dateien/minimax-92e1f6f0d832ac75c47df2b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im Jahreslauf: Pflege nach Saisonen statt nach festem Plan · Erklärende Präsentation</a:t>
            </a:r>
          </a:p>
        </p:txBody>
      </p:sp>
      <p:sp>
        <p:nvSpPr>
          <p:cNvPr id="3" name="Content Placeholder 2"/>
          <p:cNvSpPr>
            <a:spLocks noGrp="1"/>
          </p:cNvSpPr>
          <p:nvPr>
            <p:ph idx="1"/>
          </p:nvPr>
        </p:nvSpPr>
        <p:spPr/>
        <p:txBody>
          <a:bodyPr/>
          <a:lstStyle/>
          <a:p>
            <a:r>
              <a:t>Überblick: Eine Holzterrasse folgt nicht einem starren Pflegekalender. Entscheidend sind der aktuelle Zustand des Belags, das verwendete Holz, das Beschichtungssystem, die Witterung und die Nutzung der Fläche. Die folgenden saisonalen Schwerpunkte zeigen, welche Prüfungen und Arbeiten jeweils sinnvoll sind, ohne pauschale Öl- oder Renovierungsvorgaben vorzuschreiben.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Frühjahr: Zustand prüfen und Wasserwege freilegen</a:t>
            </a:r>
          </a:p>
        </p:txBody>
      </p:sp>
      <p:sp>
        <p:nvSpPr>
          <p:cNvPr id="3" name="Content Placeholder 2"/>
          <p:cNvSpPr>
            <a:spLocks noGrp="1"/>
          </p:cNvSpPr>
          <p:nvPr>
            <p:ph idx="1"/>
          </p:nvPr>
        </p:nvSpPr>
        <p:spPr/>
        <p:txBody>
          <a:bodyPr/>
          <a:lstStyle/>
          <a:p>
            <a:pPr>
              <a:defRPr sz="1800"/>
            </a:pPr>
            <a:r>
              <a:t>Nach dem Winter beginnt die wichtigste Phase mit einer gründlichen Inspektion. Laub, Moos und Schmutz sollten aus Fugen sowie aus dem Bereich unter dem Belag entfernt werden, damit Wasser wieder ablaufen kann. Parallel lassen sich Wasserwege und Übergänge zur Fassade kontrollieren. Risse, weiche Stellen, lose Bretter und Verfärbungen gehören dokumentiert, bevor Reinigungs- oder Sanierungsentscheidungen getroffen werden. Aus dieser Bestandsaufnahme folgt nicht automatisch ein jährlicher Ölbedarf. Wie häufig ein Holz behandelt werden muss, hängt laut Quelle auch vom System, von der Pigmentierung, von der Bewitterung und von der Nutzung 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 schonend reinigen und die Oberfläche beurteilen</a:t>
            </a:r>
          </a:p>
        </p:txBody>
      </p:sp>
      <p:sp>
        <p:nvSpPr>
          <p:cNvPr id="3" name="Content Placeholder 2"/>
          <p:cNvSpPr>
            <a:spLocks noGrp="1"/>
          </p:cNvSpPr>
          <p:nvPr>
            <p:ph idx="1"/>
          </p:nvPr>
        </p:nvSpPr>
        <p:spPr/>
        <p:txBody>
          <a:bodyPr/>
          <a:lstStyle/>
          <a:p>
            <a:pPr>
              <a:defRPr sz="1800"/>
            </a:pPr>
            <a:r>
              <a:t>Im Sommer bieten trockene Phasen günstige Bedingungen für Reinigungsarbeiten. Bei unbeschichteten Hölzern kommen häufig Wasser und Bürste infrage; die Angaben des jeweiligen Herstellers bilden dabei den maßgeblichen Rahmen. Von Hochdruckreinigern wird eher abgeraten, weil die Holzfasern dadurch aufgeraut werden können. Bei beschichteten Dielen muss die Methode zum vorhandenen Beschichtungssystem passen, damit die Oberfläche nicht unnötig belastet wird. Eine schnelle Reinigung ist kein Grund, die Fasern zu schädigen. Wenn unklar ist, ob das System noch intakt ist, sollte die Entscheidung zwischen Reinigung und Renovierung erst nach einer Fachb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 schonend reinigen und die Oberfläche beurteilen</a:t>
            </a:r>
          </a:p>
        </p:txBody>
      </p:sp>
      <p:sp>
        <p:nvSpPr>
          <p:cNvPr id="3" name="Content Placeholder 2"/>
          <p:cNvSpPr>
            <a:spLocks noGrp="1"/>
          </p:cNvSpPr>
          <p:nvPr>
            <p:ph idx="1"/>
          </p:nvPr>
        </p:nvSpPr>
        <p:spPr/>
        <p:txBody>
          <a:bodyPr/>
          <a:lstStyle/>
          <a:p>
            <a:pPr>
              <a:defRPr sz="1800"/>
            </a:pPr>
            <a:r>
              <a:t>eurteilung getroffen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 Feuchte und Laub rechtzeitig entfernen</a:t>
            </a:r>
          </a:p>
        </p:txBody>
      </p:sp>
      <p:sp>
        <p:nvSpPr>
          <p:cNvPr id="3" name="Content Placeholder 2"/>
          <p:cNvSpPr>
            <a:spLocks noGrp="1"/>
          </p:cNvSpPr>
          <p:nvPr>
            <p:ph idx="1"/>
          </p:nvPr>
        </p:nvSpPr>
        <p:spPr/>
        <p:txBody>
          <a:bodyPr/>
          <a:lstStyle/>
          <a:p>
            <a:pPr>
              <a:defRPr sz="1800"/>
            </a:pPr>
            <a:r>
              <a:t>Der Herbst ist die Phase mit der stärksten Belastung durch Feuchte und organisches Material. Laub sollte regelmäßig entfernt werden, bevor es sich in Fugen und unter dem Belag sammelt. Ebenso wichtig ist es, Wasserwege freizuhalten, damit Niederschlag kontrolliert abfließen kann. Erste Abblätterungen an einer Beschichtung können markiert werden, ohne sofort zu überstreichen. Unterkonstruktion und Auflager sollten soweit zugänglich sichtbar geprüft werden. Reinigung und Wartungsanstrich sind dabei unterschiedliche Aufgaben: Reinigung entfernt Verschmutzung, während ein Wartungsanstrich nur dann sinnvoll ist, wenn die vorhandene Beschichtung ih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 Feuchte und Laub rechtzeitig entfernen</a:t>
            </a:r>
          </a:p>
        </p:txBody>
      </p:sp>
      <p:sp>
        <p:nvSpPr>
          <p:cNvPr id="3" name="Content Placeholder 2"/>
          <p:cNvSpPr>
            <a:spLocks noGrp="1"/>
          </p:cNvSpPr>
          <p:nvPr>
            <p:ph idx="1"/>
          </p:nvPr>
        </p:nvSpPr>
        <p:spPr/>
        <p:txBody>
          <a:bodyPr/>
          <a:lstStyle/>
          <a:p>
            <a:pPr>
              <a:defRPr sz="1800"/>
            </a:pPr>
            <a:r>
              <a:t>n verträgt.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 Holz schonen und Eingriffe verschieben</a:t>
            </a:r>
          </a:p>
        </p:txBody>
      </p:sp>
      <p:sp>
        <p:nvSpPr>
          <p:cNvPr id="3" name="Content Placeholder 2"/>
          <p:cNvSpPr>
            <a:spLocks noGrp="1"/>
          </p:cNvSpPr>
          <p:nvPr>
            <p:ph idx="1"/>
          </p:nvPr>
        </p:nvSpPr>
        <p:spPr/>
        <p:txBody>
          <a:bodyPr/>
          <a:lstStyle/>
          <a:p>
            <a:pPr>
              <a:defRPr sz="1800"/>
            </a:pPr>
            <a:r>
              <a:t>Im Winter sind die Möglichkeiten begrenzt, weil Feuchte und Frost die Arbeit erschweren. Schnee sollte mit einem Besen oder einem geeigneten Hilfsmittel entfernt werden, statt durch harte Kanten zu kratzen. Auf Streusalz und scharfe Auftaumittel ist möglichst zu verzichten, da sie Holz und Beschichtung angreifen können. Nach Tauwetter lohnt die Kontrolle, ob Wasser an den vorgesehenen Stellen abläuft. Öl- oder Lackarbeiten sollten bei Frost oder hoher Feuchte unterbleiben. Wichtig ist außerdem, Vergrauung nicht automatisch als Zeichen einer Fäule zu deuten: Farbe und Zustand des Holzes müssen getrennt beurteilt werden, bevor eine Behandlung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 Holz schonen und Eingriffe verschieben</a:t>
            </a:r>
          </a:p>
        </p:txBody>
      </p:sp>
      <p:sp>
        <p:nvSpPr>
          <p:cNvPr id="3" name="Content Placeholder 2"/>
          <p:cNvSpPr>
            <a:spLocks noGrp="1"/>
          </p:cNvSpPr>
          <p:nvPr>
            <p:ph idx="1"/>
          </p:nvPr>
        </p:nvSpPr>
        <p:spPr/>
        <p:txBody>
          <a:bodyPr/>
          <a:lstStyle/>
          <a:p>
            <a:pPr>
              <a:defRPr sz="1800"/>
            </a:pPr>
            <a:r>
              <a:t>rfolgt.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Ganzjährig: Pflege nach Zustand statt nach Pflichttermin</a:t>
            </a:r>
          </a:p>
        </p:txBody>
      </p:sp>
      <p:sp>
        <p:nvSpPr>
          <p:cNvPr id="3" name="Content Placeholder 2"/>
          <p:cNvSpPr>
            <a:spLocks noGrp="1"/>
          </p:cNvSpPr>
          <p:nvPr>
            <p:ph idx="1"/>
          </p:nvPr>
        </p:nvSpPr>
        <p:spPr/>
        <p:txBody>
          <a:bodyPr/>
          <a:lstStyle/>
          <a:p>
            <a:pPr>
              <a:defRPr sz="1800"/>
            </a:pPr>
            <a:r>
              <a:t>Die saisonale Pflege zielt darauf, Verschmutzungen zu entfernen und die Funktion einer vorhandenen Beschichtung zu erhalten. Sie kann jedoch konstruktive Schwächen nicht ausgleichen. Der gewünschte Pflegeaufwand gehört deshalb bereits bei der Auswahl des Holzes und bei der Planung der Terrasse berücksichtigt. Wer die saisonalen Aufgaben mit einer ergänzenden Pflegeübersicht abgleicht, kann Reinigung und Wartung besser einordnen. Entscheidend bleibt die Beobachtung: nicht ein fester Monat, sondern der tatsächliche Zustand der Terrasse bestimmt den nächsten sinnvollen Schritt.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im Jahreslauf: Pflege nach Saisonen statt nach festem Plan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