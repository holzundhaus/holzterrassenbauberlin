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errassenbauberlin/treppen-und-stufen-an-der-holzterrasse-aufbau/" TargetMode="External"/><Relationship Id="rId3" Type="http://schemas.openxmlformats.org/officeDocument/2006/relationships/hyperlink" Target="https://holzundhaus.github.io/holzterrassenbauberlin/dateien/minimax-ecce1df445ab5bfa7a7edb8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Stufen und Treppen an der Holzterrasse: Aufbau und Anschluss im Detail · Erklärende Präsentation</a:t>
            </a:r>
          </a:p>
        </p:txBody>
      </p:sp>
      <p:sp>
        <p:nvSpPr>
          <p:cNvPr id="3" name="Content Placeholder 2"/>
          <p:cNvSpPr>
            <a:spLocks noGrp="1"/>
          </p:cNvSpPr>
          <p:nvPr>
            <p:ph idx="1"/>
          </p:nvPr>
        </p:nvSpPr>
        <p:spPr/>
        <p:txBody>
          <a:bodyPr/>
          <a:lstStyle/>
          <a:p>
            <a:r>
              <a:t>Überblick: Eine Holzterrasse endet selten auf gleicher Höhe wie der Garten. Stufen und Treppen sind daher kein nebensächlicher Anhang, sondern ein eigenes Bauteil mit eigener Unterkonstruktion, eigenen Lasten und einem sensiblen Anschluss an den Terrassenbelag. Dieser Ratgeber richtet den Blick auf die Planung: Höhenunterschied, Stufenmaß, Material, Auflager, Wasserweg und Übergang zur letzten Diele. So lässt sich die Treppe früh einordnen, bevor Material und Construction festgelegt werden. Der folgende weiterführende Ratgeber ergänzt die allgemeinen Grundlagen der Holzterrasse um die konstruktiven Fragen am Terrassenrand.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Stufen früh in die Planung gehören</a:t>
            </a:r>
          </a:p>
        </p:txBody>
      </p:sp>
      <p:sp>
        <p:nvSpPr>
          <p:cNvPr id="3" name="Content Placeholder 2"/>
          <p:cNvSpPr>
            <a:spLocks noGrp="1"/>
          </p:cNvSpPr>
          <p:nvPr>
            <p:ph idx="1"/>
          </p:nvPr>
        </p:nvSpPr>
        <p:spPr/>
        <p:txBody>
          <a:bodyPr/>
          <a:lstStyle/>
          <a:p>
            <a:pPr>
              <a:defRPr sz="1800"/>
            </a:pPr>
            <a:r>
              <a:t>Der Höhenraum zwischen Türschwelle, Terrassenbelag und Gelände bestimmt die gesamte Treppengeometrie. Wichtig sind außerdem der Übergang von der letzten Diele auf die erste Trittstufe, der Lastweg in den Boden und die Zugänglichkeit unter dem Belag für Reinigung und Kontrolle. Wer diese Schnittstellen erst beim Einbau der Treppe betrachtet, muss Höhen, Aufbauten und Anschlüsse nachträglich anpassen. Deshalb sollten Türschwelle, Terrassenoberkante und Gartenniveau ausgemessen werden, bevor Stufen und Materialien ausgewählt werden. Die Hauptenseite beschreibt die Rolle der Unterkonstruktion für Terrasse und Anschlüsse; dieser Beitrag ergänzt 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Stufen früh in die Planung gehören</a:t>
            </a:r>
          </a:p>
        </p:txBody>
      </p:sp>
      <p:sp>
        <p:nvSpPr>
          <p:cNvPr id="3" name="Content Placeholder 2"/>
          <p:cNvSpPr>
            <a:spLocks noGrp="1"/>
          </p:cNvSpPr>
          <p:nvPr>
            <p:ph idx="1"/>
          </p:nvPr>
        </p:nvSpPr>
        <p:spPr/>
        <p:txBody>
          <a:bodyPr/>
          <a:lstStyle/>
          <a:p>
            <a:pPr>
              <a:defRPr sz="1800"/>
            </a:pPr>
            <a:r>
              <a:t>e um das eigenständige Bauteil Treppe.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Stufenhöhe und Auftritt richtig festlegen</a:t>
            </a:r>
          </a:p>
        </p:txBody>
      </p:sp>
      <p:sp>
        <p:nvSpPr>
          <p:cNvPr id="3" name="Content Placeholder 2"/>
          <p:cNvSpPr>
            <a:spLocks noGrp="1"/>
          </p:cNvSpPr>
          <p:nvPr>
            <p:ph idx="1"/>
          </p:nvPr>
        </p:nvSpPr>
        <p:spPr/>
        <p:txBody>
          <a:bodyPr/>
          <a:lstStyle/>
          <a:p>
            <a:pPr>
              <a:defRPr sz="1800"/>
            </a:pPr>
            <a:r>
              <a:t>Als Planungsrichtwerte nennt der Quelltext eine Stufenhöhe von etwa 15 bis 18 Zentimetern und einen Auftritt von etwa 28 bis 32 Zentimetern. Gleichmäßige Maße sind wichtig, damit der Fuß sicher stehen kann und einzelne Stufen keine Stolperstellen bilden. Alle Stufen einer Treppe sollten dasselbe Höhen- und Tiefenmaß erhalten. Aus dem bekannten Höhenunterschied lässt sich die Stufenzahl ableiten; dabei ist zu prüfen, ob die Türschwelle frei bleibt. Besonders bei nassen Holzoberflächen ist ein einheitlicher Auftritt sinnvoll, weil jede zusätzliche Kante den Gang erschweren kann. Die endgültige Ausführung sollte mit den tatsächlich vorhandenen 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Stufenhöhe und Auftritt richtig festlegen</a:t>
            </a:r>
          </a:p>
        </p:txBody>
      </p:sp>
      <p:sp>
        <p:nvSpPr>
          <p:cNvPr id="3" name="Content Placeholder 2"/>
          <p:cNvSpPr>
            <a:spLocks noGrp="1"/>
          </p:cNvSpPr>
          <p:nvPr>
            <p:ph idx="1"/>
          </p:nvPr>
        </p:nvSpPr>
        <p:spPr/>
        <p:txBody>
          <a:bodyPr/>
          <a:lstStyle/>
          <a:p>
            <a:pPr>
              <a:defRPr sz="1800"/>
            </a:pPr>
            <a:r>
              <a:t>öhen und der gewünschten Verbindung zur Terrasse abgeglichen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Belag, Wangen und Unterkonstruktion zusammen planen</a:t>
            </a:r>
          </a:p>
        </p:txBody>
      </p:sp>
      <p:sp>
        <p:nvSpPr>
          <p:cNvPr id="3" name="Content Placeholder 2"/>
          <p:cNvSpPr>
            <a:spLocks noGrp="1"/>
          </p:cNvSpPr>
          <p:nvPr>
            <p:ph idx="1"/>
          </p:nvPr>
        </p:nvSpPr>
        <p:spPr/>
        <p:txBody>
          <a:bodyPr/>
          <a:lstStyle/>
          <a:p>
            <a:pPr>
              <a:defRPr sz="1800"/>
            </a:pPr>
            <a:r>
              <a:t>Eine Holztreppe besteht aus mehreren Ebenen, die zusammenpassen müssen: Trittstufen, tragende Wangen beziehungsweise Konsolen und die Unterkonstruktion darunter. Für alle drei Ebenen spielen Holzart, Sortierung, Brettabmessung, Befestigung und Holzschutz eine Rolle. Beim Belag empfiehlt der Quelltext ein rutschhemmendes Profil oder feine Rillen, damit die Oberfläche bei Nässe sicherer bleibt. Hirnholzflächen sollten nicht ungeschützt der Witterung ausgesetzt werden. Bei Feuchtekontakt werden Edelstahl oder gleichwertige Verbindungsmittel empfohlen. Die Auswahlkriterien für Terrassendielen gelten für Trittstufen in verschärfter Form, weil sie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Belag, Wangen und Unterkonstruktion zusammen planen</a:t>
            </a:r>
          </a:p>
        </p:txBody>
      </p:sp>
      <p:sp>
        <p:nvSpPr>
          <p:cNvPr id="3" name="Content Placeholder 2"/>
          <p:cNvSpPr>
            <a:spLocks noGrp="1"/>
          </p:cNvSpPr>
          <p:nvPr>
            <p:ph idx="1"/>
          </p:nvPr>
        </p:nvSpPr>
        <p:spPr/>
        <p:txBody>
          <a:bodyPr/>
          <a:lstStyle/>
          <a:p>
            <a:pPr>
              <a:defRPr sz="1800"/>
            </a:pPr>
            <a:r>
              <a:t>stärker begangen und punktuell belastet werden. Die konkrete Bemessung muss mit der geplanten Konstruktion und ihren Anforderungen abgestimmt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Auflager, Wasserablauf und Hinterlüftung</a:t>
            </a:r>
          </a:p>
        </p:txBody>
      </p:sp>
      <p:sp>
        <p:nvSpPr>
          <p:cNvPr id="3" name="Content Placeholder 2"/>
          <p:cNvSpPr>
            <a:spLocks noGrp="1"/>
          </p:cNvSpPr>
          <p:nvPr>
            <p:ph idx="1"/>
          </p:nvPr>
        </p:nvSpPr>
        <p:spPr/>
        <p:txBody>
          <a:bodyPr/>
          <a:lstStyle/>
          <a:p>
            <a:pPr>
              <a:defRPr sz="1800"/>
            </a:pPr>
            <a:r>
              <a:t>Die Terrasse ruht auf einer durchgehenden Unterkonstruktion, die Treppe benötigt dagegen eigene Auflager. Je nach Situation kommen laut Quelle Punktfundamente aus Beton, eine vorhandene befestigte Fläche oder eine lastübertragende Verbindung zur Terrassenunterkonstruktion infrage. Die Wahl hängt vom Untergrund, von Höhe und Wasserablauf ab. Unter den Stufen sollte eine wasserführende Ebene freibleiben, damit Regen ablaufen kann. Direkter Kontakt zwischen Holz und Erde ist zu vermeiden. Außerdem ist Hinterlüftung zwischen Trittstufe und Wange wichtig, damit feuchtes Holz schneller abtrocknen kann. Diese drei Aspekte – Tragfähigkeit, Wasserabla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Auflager, Wasserablauf und Hinterlüftung</a:t>
            </a:r>
          </a:p>
        </p:txBody>
      </p:sp>
      <p:sp>
        <p:nvSpPr>
          <p:cNvPr id="3" name="Content Placeholder 2"/>
          <p:cNvSpPr>
            <a:spLocks noGrp="1"/>
          </p:cNvSpPr>
          <p:nvPr>
            <p:ph idx="1"/>
          </p:nvPr>
        </p:nvSpPr>
        <p:spPr/>
        <p:txBody>
          <a:bodyPr/>
          <a:lstStyle/>
          <a:p>
            <a:pPr>
              <a:defRPr sz="1800"/>
            </a:pPr>
            <a:r>
              <a:t>uf und Belüftung – sollten deshalb gemeinsam beurteilt werden und nicht erst während der Montage.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an die letzte Diele planen</a:t>
            </a:r>
          </a:p>
        </p:txBody>
      </p:sp>
      <p:sp>
        <p:nvSpPr>
          <p:cNvPr id="3" name="Content Placeholder 2"/>
          <p:cNvSpPr>
            <a:spLocks noGrp="1"/>
          </p:cNvSpPr>
          <p:nvPr>
            <p:ph idx="1"/>
          </p:nvPr>
        </p:nvSpPr>
        <p:spPr/>
        <p:txBody>
          <a:bodyPr/>
          <a:lstStyle/>
          <a:p>
            <a:pPr>
              <a:defRPr sz="1800"/>
            </a:pPr>
            <a:r>
              <a:t>Der Übergang von der Terrasse zur ersten Trittstufe ist konstruktiv heikel, weil dort Dielenbewegung, Wasserweg und Trittkante zusammentreffen. Die Endkante benötigt eine eigene Stabilisierung, damit die letzte Diele nicht nachgibt. Die Trittstufe sollte so befestigt werden, dass feuchtebedingte Längenänderungen der Terrassendielen nicht auf die Treppe übertragen werden. Zwischen Belag und erster Stufe sollte eine passende Fuge den Wasserablauf ermöglichen und verhindern, dass sich Laub unkontrolliert sammelt. Vor dem Bau gehören Höhenlage der Schwelle, Aufbauhöhe der Terrasse, Höhenunterschied zum Garten sowie Zugang für Materialtransport 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an die letzte Diele planen</a:t>
            </a:r>
          </a:p>
        </p:txBody>
      </p:sp>
      <p:sp>
        <p:nvSpPr>
          <p:cNvPr id="3" name="Content Placeholder 2"/>
          <p:cNvSpPr>
            <a:spLocks noGrp="1"/>
          </p:cNvSpPr>
          <p:nvPr>
            <p:ph idx="1"/>
          </p:nvPr>
        </p:nvSpPr>
        <p:spPr/>
        <p:txBody>
          <a:bodyPr/>
          <a:lstStyle/>
          <a:p>
            <a:pPr>
              <a:defRPr sz="1800"/>
            </a:pPr>
            <a:r>
              <a:t>d Montage auf eine Checkliste. So kann die Treppe als eigenständiges Bauteil in die Projektplanung einfließen.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Stufen und Treppen an der Holzterrasse: Aufbau und Anschluss im Detail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