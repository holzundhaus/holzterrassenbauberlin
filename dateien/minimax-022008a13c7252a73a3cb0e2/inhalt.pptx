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errassenbauberlin.wordpress.com/2026/10/30/sonnenstand-verschattung-holzterrasse-berlin/" TargetMode="External"/><Relationship Id="rId3" Type="http://schemas.openxmlformats.org/officeDocument/2006/relationships/hyperlink" Target="https://holzundhaus.github.io/holzterrassenbauberlin/dateien/minimax-022008a13c7252a73a3cb0e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Sonnenstand und Verschattung: Was sie für Aufbau, Oberfläche und Pflege Ihrer Holzterrasse in Berlin bedeuten · Erklärende Präsentation</a:t>
            </a:r>
          </a:p>
        </p:txBody>
      </p:sp>
      <p:sp>
        <p:nvSpPr>
          <p:cNvPr id="3" name="Content Placeholder 2"/>
          <p:cNvSpPr>
            <a:spLocks noGrp="1"/>
          </p:cNvSpPr>
          <p:nvPr>
            <p:ph idx="1"/>
          </p:nvPr>
        </p:nvSpPr>
        <p:spPr/>
        <p:txBody>
          <a:bodyPr/>
          <a:lstStyle/>
          <a:p>
            <a:r>
              <a:t>Überblick: Der Sonnenstand gehört zu den unterschätzten Planungsfaktoren beim Bau einer Holzterrasse in Berlin. Er beeinflusst nicht nur die Hitzeentwicklung und das sichtbare Alter der Oberfläche, sondern auch Trocknung, Pflegeaufwand und die erforderliche Luftführung unter den Dielen. Besonders wichtig ist die tatsächliche Verschattung: Nachbarhäuser, Bäume, Markisen und Pergolen können eine Südlage deutlich verändern. Die folgenden Hinweise ergänzen den weiterführenden Ratgeber zu [Sonnenstand und Verschattung auf der Holzterrasse](https://holzterrassenbauberlin.de/2026/10/30/sonnenstand-verschattung-holzterrasse-berlin/) um eine practical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Seite die Terrasse bekommt</a:t>
            </a:r>
          </a:p>
        </p:txBody>
      </p:sp>
      <p:sp>
        <p:nvSpPr>
          <p:cNvPr id="3" name="Content Placeholder 2"/>
          <p:cNvSpPr>
            <a:spLocks noGrp="1"/>
          </p:cNvSpPr>
          <p:nvPr>
            <p:ph idx="1"/>
          </p:nvPr>
        </p:nvSpPr>
        <p:spPr/>
        <p:txBody>
          <a:bodyPr/>
          <a:lstStyle/>
          <a:p>
            <a:pPr>
              <a:defRPr sz="1800"/>
            </a:pPr>
            <a:r>
              <a:t>Eine Terrasse an der Südseite erhält über viele Stunden direkte Sonne. Die Oberfläche erwärmt sich stark, zugleich beschleunigt die hohe UV-Belastung das Verblassen von Pigmenten und Ölen. An der Westseite treffen intensive Nachmittags- und Abendsonne sowie die Wärme aufgeheizter Hauswände aufeinander. Dort können Beläge abends langsamer abtrocknen. Die Ostseite ist meist kürzer und milder besonnt; die Dielen erwärmen sich weniger und trocknen nach Feuchtigkeit zügiger. An der Nordseite dominiert Schatten. Hier bleibt Feuchtigkeit länger stehen, sodass Moose und Algen leichter entstehen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Verschattung kann die Einordnung verändern</a:t>
            </a:r>
          </a:p>
        </p:txBody>
      </p:sp>
      <p:sp>
        <p:nvSpPr>
          <p:cNvPr id="3" name="Content Placeholder 2"/>
          <p:cNvSpPr>
            <a:spLocks noGrp="1"/>
          </p:cNvSpPr>
          <p:nvPr>
            <p:ph idx="1"/>
          </p:nvPr>
        </p:nvSpPr>
        <p:spPr/>
        <p:txBody>
          <a:bodyPr/>
          <a:lstStyle/>
          <a:p>
            <a:pPr>
              <a:defRPr sz="1800"/>
            </a:pPr>
            <a:r>
              <a:t>Die Lage des Hauses allein reicht deshalb nicht aus. Eine Terrasse, die nach Süden ausgerichtet ist, kann durch einen Baum am Nachmittag teilweise im Schatten liegen und sich dadurch ähnlich wie eine Ost- oder Westseite verhalten. Markisen, Pergolen und Gebäude erzeugen zusätzlich wechselnde Bedingungen. Für die Planung sollte deshalb nicht nur die Himmelsrichtung, sondern der Verlauf über den Tag betrachtet werden: Wann liegt die Terrasse in der Sonne, wann bleibt sie beschattet, und wo sammelt sich nach Regen Wasser? Diese Beobachtungen sind eine belastbare Grundlage für die Auswahl von Holzart, Farbe und Aufbau.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Unterkonstruktion</a:t>
            </a:r>
          </a:p>
        </p:txBody>
      </p:sp>
      <p:sp>
        <p:nvSpPr>
          <p:cNvPr id="3" name="Content Placeholder 2"/>
          <p:cNvSpPr>
            <a:spLocks noGrp="1"/>
          </p:cNvSpPr>
          <p:nvPr>
            <p:ph idx="1"/>
          </p:nvPr>
        </p:nvSpPr>
        <p:spPr/>
        <p:txBody>
          <a:bodyPr/>
          <a:lstStyle/>
          <a:p>
            <a:pPr>
              <a:defRPr sz="1800"/>
            </a:pPr>
            <a:r>
              <a:t>Die verfügbare Höhe bis zur Türschwelle beeinflusst, wie viel Luft unter dem Belag bleibt. In sonnigen, trockenen Bereichen kann eine niedrigere Aufbauhöhe vertretbar sein, sofern Wasserwege und Fugen frei bleiben. In verschatteten oder nördlichen Bereichen ist mehr Aufbauhöhe sinnvoll, damit Luft zirkulieren und die Unterseite der Dielen abtrocknen kann. Unter sonnenintensiven Flächen kann sich Hitze stauen. Abstandshalter, durchgehende Wasserwege und ein Gefälle, das Wasser vom Haus wegführt, sind deshalb besonders konsequent zu berücksichtigen. Die konkrete Ausführung hängt immer von den örtlichen Gegebenheiten und dem geplanten Aufbau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Farbe, Holzart und Oberflächentemperatur</a:t>
            </a:r>
          </a:p>
        </p:txBody>
      </p:sp>
      <p:sp>
        <p:nvSpPr>
          <p:cNvPr id="3" name="Content Placeholder 2"/>
          <p:cNvSpPr>
            <a:spLocks noGrp="1"/>
          </p:cNvSpPr>
          <p:nvPr>
            <p:ph idx="1"/>
          </p:nvPr>
        </p:nvSpPr>
        <p:spPr/>
        <p:txBody>
          <a:bodyPr/>
          <a:lstStyle/>
          <a:p>
            <a:pPr>
              <a:defRPr sz="1800"/>
            </a:pPr>
            <a:r>
              <a:t>Helle, naturbelassene Hölzer erwärmen sich unter direkter Sonne weniger als dunkle oder dunkel pigmentierte Flächen. Thermoholz und einige Harthölzer dunkeln naturgemäß nach; ihre Anfangshelligkeit bleibt nicht dauerhaft bestehen. Pigmentierte Beschichtungen können die Oberflächentemperatur erhöhen, bieten dafür aber oft einen besseren UV-Schutz. Wer barfuß über die Terrasse gehen möchte, sollte die Sonnensituation bereits bei der Materialwahl berücksichtigen. Die zweite Verknüpfung zur [weiterführenden Ratgeberseite zur Sonnenverschattung](https://holzterrassenbauberlin.de/2026/10/30/sonnenstand-verschattung-holzterrasse-berlin/) führt zurüc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Farbe, Holzart und Oberflächentemperatur</a:t>
            </a:r>
          </a:p>
        </p:txBody>
      </p:sp>
      <p:sp>
        <p:nvSpPr>
          <p:cNvPr id="3" name="Content Placeholder 2"/>
          <p:cNvSpPr>
            <a:spLocks noGrp="1"/>
          </p:cNvSpPr>
          <p:nvPr>
            <p:ph idx="1"/>
          </p:nvPr>
        </p:nvSpPr>
        <p:spPr/>
        <p:txBody>
          <a:bodyPr/>
          <a:lstStyle/>
          <a:p>
            <a:pPr>
              <a:defRPr sz="1800"/>
            </a:pPr>
            <a:r>
              <a:t>k zu den zentralen Fragen: Soll die Farbe stabil bleiben oder darf das Holz natürlicher vergrauen?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nach Sonnensituation statt nur nach Kalender</a:t>
            </a:r>
          </a:p>
        </p:txBody>
      </p:sp>
      <p:sp>
        <p:nvSpPr>
          <p:cNvPr id="3" name="Content Placeholder 2"/>
          <p:cNvSpPr>
            <a:spLocks noGrp="1"/>
          </p:cNvSpPr>
          <p:nvPr>
            <p:ph idx="1"/>
          </p:nvPr>
        </p:nvSpPr>
        <p:spPr/>
        <p:txBody>
          <a:bodyPr/>
          <a:lstStyle/>
          <a:p>
            <a:pPr>
              <a:defRPr sz="1800"/>
            </a:pPr>
            <a:r>
              <a:t>In stark besonnten Bereichen altern Pigmente, Öle und Beschichtungen schneller; dort ist eine regelmäßige Oberflächenwartung wichtiger. In schattigen, feuchten Bereichen rückt die mechanische Reinigung in den Vordergrund. Laub, Moose und Algen sollten nicht lange einwirken, und Fugen sowie Wasserwege müssen freibleiben. Bei wechselndem Baumschatten treffen beide Pflegeanforderungen aufeinander: Einerseits verbrauchen Sonne und Austrocknung die Oberfläche, andererseits begünstigt Feuchtigkeit den Bewuchs. Reinigung und Oberflächenwartung sollten deshalb getrennt betrachtet und an die tatsächliche Beanspruchung angepasst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der Planung</a:t>
            </a:r>
          </a:p>
        </p:txBody>
      </p:sp>
      <p:sp>
        <p:nvSpPr>
          <p:cNvPr id="3" name="Content Placeholder 2"/>
          <p:cNvSpPr>
            <a:spLocks noGrp="1"/>
          </p:cNvSpPr>
          <p:nvPr>
            <p:ph idx="1"/>
          </p:nvPr>
        </p:nvSpPr>
        <p:spPr/>
        <p:txBody>
          <a:bodyPr/>
          <a:lstStyle/>
          <a:p>
            <a:pPr>
              <a:defRPr sz="1800"/>
            </a:pPr>
            <a:r>
              <a:t>Vor dem ersten Dielenelement lassen sich fünf Fragen klären: An welche Hausseite schließt die Terrasse an? Welche Gebäude, Bäume oder anderen Bauteile verschatten sie? Wie viel Aufbauhöhe steht bis zur Türschwelle zur Verfügung? Soll die Oberfläche farblich stabil bleiben oder ist eine natürliche Vergrauung erwünscht? Welcher Pflegeaufwand ist an diesem Standort realistisch? Wer diese Fragen mit einer Skizze, Fotos und Notizen zum Sonnenverlauf beantwortet, kann Aufbau, Materialauswahl und spätere Angebote genauer vergleichen. Die Planung sollte außerdem berücksichtigen, dass eine zusätzliche Verschattung sowohl die Temperatur als auch das Tr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der Planung</a:t>
            </a:r>
          </a:p>
        </p:txBody>
      </p:sp>
      <p:sp>
        <p:nvSpPr>
          <p:cNvPr id="3" name="Content Placeholder 2"/>
          <p:cNvSpPr>
            <a:spLocks noGrp="1"/>
          </p:cNvSpPr>
          <p:nvPr>
            <p:ph idx="1"/>
          </p:nvPr>
        </p:nvSpPr>
        <p:spPr/>
        <p:txBody>
          <a:bodyPr/>
          <a:lstStyle/>
          <a:p>
            <a:pPr>
              <a:defRPr sz="1800"/>
            </a:pPr>
            <a:r>
              <a:t>ocknungsverhalten verändert.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Sonnenstand und Verschattung: Was sie für Aufbau, Oberfläche und Pflege Ihrer Holzterrasse in Berlin bedeuten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