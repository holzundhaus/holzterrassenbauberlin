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terrassenbauberlin.blogspot.com/2026/10/ubergange-rund-um-die-holzterrasse.html" TargetMode="External"/><Relationship Id="rId3" Type="http://schemas.openxmlformats.org/officeDocument/2006/relationships/hyperlink" Target="https://holzundhaus.github.io/holzterrassenbauberlin/dateien/minimax-d234888b5623923fee9a9579/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Übergänge rund um die Holzterrasse: Türschwelle, Fassade und Gartenanschluss planen · Erklärende Präsentation</a:t>
            </a:r>
          </a:p>
        </p:txBody>
      </p:sp>
      <p:sp>
        <p:nvSpPr>
          <p:cNvPr id="3" name="Content Placeholder 2"/>
          <p:cNvSpPr>
            <a:spLocks noGrp="1"/>
          </p:cNvSpPr>
          <p:nvPr>
            <p:ph idx="1"/>
          </p:nvPr>
        </p:nvSpPr>
        <p:spPr/>
        <p:txBody>
          <a:bodyPr/>
          <a:lstStyle/>
          <a:p>
            <a:r>
              <a:t>Überblick: Eine Holzterrasse ist nicht nur die Fläche aus Holzdielen. Entscheidend ist, wie sie an Tür, Fassade, Belagskante und Garten anschließt. Wer diese Übergänge frühzeitig plant, schafft mehr Spielraum beim Aufbau, kann Wasser gezielt ableiten und vermeidet unnötige Nacharbeiten. Der folgende Leitfaden strukturiert die wichtigsten Fragen für die Planung – unabhängig davon, ob eine Terrasse erweitert, neu gebaut oder an einen bestehenden Garten angebunden werden soll. Die Hinweise greifen die allgemeinen Fragen zu Unterkonstruktion, Hinterlüftung und Anschlüssen auf und übertragen sie auf die konkreten Übergangssituationen.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Türschwelle: verfügbare Höhe und Anschlussfunktion</a:t>
            </a:r>
          </a:p>
        </p:txBody>
      </p:sp>
      <p:sp>
        <p:nvSpPr>
          <p:cNvPr id="3" name="Content Placeholder 2"/>
          <p:cNvSpPr>
            <a:spLocks noGrp="1"/>
          </p:cNvSpPr>
          <p:nvPr>
            <p:ph idx="1"/>
          </p:nvPr>
        </p:nvSpPr>
        <p:spPr/>
        <p:txBody>
          <a:bodyPr/>
          <a:lstStyle/>
          <a:p>
            <a:pPr>
              <a:defRPr sz="1800"/>
            </a:pPr>
            <a:r>
              <a:t>Beginnen Sie mit der exakten Höhe der Türunterkante beziehungsweise der vorhandenen Schwelle. Zwischen Haus und Terrassenoberfläche müssen Unterkonstruktion, Belag und ein ausreichender Luftspalt Platz finden. Legen Sie außerdem fest, welchen Abstand Sie zwischen Terrassenoberfläche und Schwellenoberkante wünschen. Ein kleiner Abstand kann dabei helfen, dass Regen vom Haus wegläuft. Wichtig ist außerdem, ob im Anschlussbereich bereits eine Abdichtungsebene, ein Wannenblech oder eine Anschlussfolie vorhanden ist. Steht zu wenig Höhe zur Verfügung, geraten Aufbau, Statik und Hinterlüftung unter Druck. Deshalb sollte die Schwelle nicht erst nach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Türschwelle: verfügbare Höhe und Anschlussfunktion</a:t>
            </a:r>
          </a:p>
        </p:txBody>
      </p:sp>
      <p:sp>
        <p:nvSpPr>
          <p:cNvPr id="3" name="Content Placeholder 2"/>
          <p:cNvSpPr>
            <a:spLocks noGrp="1"/>
          </p:cNvSpPr>
          <p:nvPr>
            <p:ph idx="1"/>
          </p:nvPr>
        </p:nvSpPr>
        <p:spPr/>
        <p:txBody>
          <a:bodyPr/>
          <a:lstStyle/>
          <a:p>
            <a:pPr>
              <a:defRPr sz="1800"/>
            </a:pPr>
            <a:r>
              <a:t> der Auswahl des Belags bewertet werden, sondern als feste Planungsgröße in die ersten Entwürfe einfließen.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 Fassadenanschluss: Feuchte, Belüftung und Spritzwasser</a:t>
            </a:r>
          </a:p>
        </p:txBody>
      </p:sp>
      <p:sp>
        <p:nvSpPr>
          <p:cNvPr id="3" name="Content Placeholder 2"/>
          <p:cNvSpPr>
            <a:spLocks noGrp="1"/>
          </p:cNvSpPr>
          <p:nvPr>
            <p:ph idx="1"/>
          </p:nvPr>
        </p:nvSpPr>
        <p:spPr/>
        <p:txBody>
          <a:bodyPr/>
          <a:lstStyle/>
          <a:p>
            <a:pPr>
              <a:defRPr sz="1800"/>
            </a:pPr>
            <a:r>
              <a:t>Das Terrassenende an der Fassade benötigt sorgfältig geplante Abstände. Ein ausreichender Abstand zum Haus hilft, Spritzwasser von der Wand fernzuhalten und den Dielenstirnseiten Gelegenheit zum Abtrocknen zu geben. Zugleich entsteht eine Fuge, in der sich Laub und Schmutz entfernen lassen. Prüfen Sie, ob an der Fassade ein Sockelprofil, eine Dampfsperre oder Lüftungsöffnungen vorhanden sind und wie diese mit dem Terrassenaufbau zusammenarbeiten. Wird eine Belüftungsöffnung durch den Belag verdeckt, kann Feuchte nicht mehr wie vorgesehen entweichen. Der Fassadenanschluss sollte deshalb nicht allein optisch geplant werden. Messen Sie die vorha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 Fassadenanschluss: Feuchte, Belüftung und Spritzwasser</a:t>
            </a:r>
          </a:p>
        </p:txBody>
      </p:sp>
      <p:sp>
        <p:nvSpPr>
          <p:cNvPr id="3" name="Content Placeholder 2"/>
          <p:cNvSpPr>
            <a:spLocks noGrp="1"/>
          </p:cNvSpPr>
          <p:nvPr>
            <p:ph idx="1"/>
          </p:nvPr>
        </p:nvSpPr>
        <p:spPr/>
        <p:txBody>
          <a:bodyPr/>
          <a:lstStyle/>
          <a:p>
            <a:pPr>
              <a:defRPr sz="1800"/>
            </a:pPr>
            <a:r>
              <a:t>ndenen Gegebenheiten und klären Sie, welche Funktionen durch den neuen Aufbau berührt werden.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Belagsabschluss: Kante, Randdiele und späterer Austausch</a:t>
            </a:r>
          </a:p>
        </p:txBody>
      </p:sp>
      <p:sp>
        <p:nvSpPr>
          <p:cNvPr id="3" name="Content Placeholder 2"/>
          <p:cNvSpPr>
            <a:spLocks noGrp="1"/>
          </p:cNvSpPr>
          <p:nvPr>
            <p:ph idx="1"/>
          </p:nvPr>
        </p:nvSpPr>
        <p:spPr/>
        <p:txBody>
          <a:bodyPr/>
          <a:lstStyle/>
          <a:p>
            <a:pPr>
              <a:defRPr sz="1800"/>
            </a:pPr>
            <a:r>
              <a:t>Am freien Rand entscheidet sich, wie die Terrasse wirkt, wie Wasser abfließen kann und wie gut sie später zu pflegen ist. Als Möglichkeiten kommen eine durchgehende Randdiele, ein Profilbrett oder eine offene Kante zum Garten infrage. Eine geschlossene Randdiele kann ruhig wirken, benötigt aber entsprechende Hinterlüftung. Eine offene Kante leitet Wasser gut ab, lässt jedoch Erde, Unkraut und Feuchte näher an das Holz gelangen. Überlegen Sie auch, ob Stufen oder ein Höhenversprung vorgesehen sind und ob ein Winkel oder Blech die Kante schützen soll. Für die spätere Nutzung ist wichtig, dass Befestigungen an der Stirnseite erreichbar bleiben.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Belagsabschluss: Kante, Randdiele und späterer Austausch</a:t>
            </a:r>
          </a:p>
        </p:txBody>
      </p:sp>
      <p:sp>
        <p:nvSpPr>
          <p:cNvPr id="3" name="Content Placeholder 2"/>
          <p:cNvSpPr>
            <a:spLocks noGrp="1"/>
          </p:cNvSpPr>
          <p:nvPr>
            <p:ph idx="1"/>
          </p:nvPr>
        </p:nvSpPr>
        <p:spPr/>
        <p:txBody>
          <a:bodyPr/>
          <a:lstStyle/>
          <a:p>
            <a:pPr>
              <a:defRPr sz="1800"/>
            </a:pPr>
            <a:r>
              <a:t>So lässt sich eine beschädigte Diele gegebenenfalls austauschen, ohne den gesamten Abschluss zu zerstören.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 Gartenanschluss: Rasen, Beet und Wege</a:t>
            </a:r>
          </a:p>
        </p:txBody>
      </p:sp>
      <p:sp>
        <p:nvSpPr>
          <p:cNvPr id="3" name="Content Placeholder 2"/>
          <p:cNvSpPr>
            <a:spLocks noGrp="1"/>
          </p:cNvSpPr>
          <p:nvPr>
            <p:ph idx="1"/>
          </p:nvPr>
        </p:nvSpPr>
        <p:spPr/>
        <p:txBody>
          <a:bodyPr/>
          <a:lstStyle/>
          <a:p>
            <a:pPr>
              <a:defRPr sz="1800"/>
            </a:pPr>
            <a:r>
              <a:t>Der Übergang zum Garten ist zugleich Entwässerungs- und Nutzungsbereich. Bei Rasen sorgt eine klare Kante, etwa ein Metallband oder eine Steinreihe, dafür, dass Gras nicht in die Fugen wächst. Im Beet ist der Abstand zwischen Holzende und Erdreich besonders wichtig, weil dort Feuchte entstehen kann. Bei einem Pflasterweg muss der Höhenunterschied so ausfallen, dass weder eine Stolperstelle noch ein Wasserstau entsteht. Berücksichtigen Sie deshalb das Gefälle, die Nutzung des Weges und die jeweilige Umgebung. Das Ziel sollte sein, Wasser vom Haus weg und über die freie Kante in den Garten ablaufen zu lassen. Die Gestaltung des Gartenanschlusse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 Gartenanschluss: Rasen, Beet und Wege</a:t>
            </a:r>
          </a:p>
        </p:txBody>
      </p:sp>
      <p:sp>
        <p:nvSpPr>
          <p:cNvPr id="3" name="Content Placeholder 2"/>
          <p:cNvSpPr>
            <a:spLocks noGrp="1"/>
          </p:cNvSpPr>
          <p:nvPr>
            <p:ph idx="1"/>
          </p:nvPr>
        </p:nvSpPr>
        <p:spPr/>
        <p:txBody>
          <a:bodyPr/>
          <a:lstStyle/>
          <a:p>
            <a:pPr>
              <a:defRPr sz="1800"/>
            </a:pPr>
            <a:r>
              <a:t>s beeinflusst damit unmittelbar die Funktion der gesamten Holzterrasse. Die weiteren Grundlagen zu Hinterlüftung und Wasserablauf finden Sie auf der Hauptseite von Holzterrassenbau Berlin.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 Praktische Planungsliste für die Projektanfrage</a:t>
            </a:r>
          </a:p>
        </p:txBody>
      </p:sp>
      <p:sp>
        <p:nvSpPr>
          <p:cNvPr id="3" name="Content Placeholder 2"/>
          <p:cNvSpPr>
            <a:spLocks noGrp="1"/>
          </p:cNvSpPr>
          <p:nvPr>
            <p:ph idx="1"/>
          </p:nvPr>
        </p:nvSpPr>
        <p:spPr/>
        <p:txBody>
          <a:bodyPr/>
          <a:lstStyle/>
          <a:p>
            <a:pPr>
              <a:defRPr sz="1800"/>
            </a:pPr>
            <a:r>
              <a:t>Vor dem Baubeginn können Sie die wichtigsten Entscheidungen in einer kurzen Checkliste festhalten: Schwellenhöhe messen und den gewünschten Abstand zum Belag bestimmen, Abstand zur Fassade sowie Belüftungsöffnungen und vorhandene Abdichtungen prüfen, Randgestaltung und Schutz der Kante festlegen, Anschlüsse zu Rasen, Beet, Wegen oder Stufen klären und die spätere Pflege sowie den Austausch einzelner Dielen berücksichtigen. Für die Anfrage genügt anschließend eine knappe Beschreibung der Situation. Nennen Sie beispielsweise die Schwellenhöhe, den gewünschten Abstand zum Haus und die Beschreibung des Gartenanschlusses. So lassen sich unterschie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 Praktische Planungsliste für die Projektanfrage</a:t>
            </a:r>
          </a:p>
        </p:txBody>
      </p:sp>
      <p:sp>
        <p:nvSpPr>
          <p:cNvPr id="3" name="Content Placeholder 2"/>
          <p:cNvSpPr>
            <a:spLocks noGrp="1"/>
          </p:cNvSpPr>
          <p:nvPr>
            <p:ph idx="1"/>
          </p:nvPr>
        </p:nvSpPr>
        <p:spPr/>
        <p:txBody>
          <a:bodyPr/>
          <a:lstStyle/>
          <a:p>
            <a:pPr>
              <a:defRPr sz="1800"/>
            </a:pPr>
            <a:r>
              <a:t>dliche Aufbauten besser vergleichen. Ergänzende Hinweise zu Umfang und Anschlüssen bietet die Hauptseite von Holzterrassenbau Berlin; der passende Beitrag „holzundhaus“ ordnet das Thema in einen größeren Beratungskontext ein.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Übergänge rund um die Holzterrasse: Türschwelle, Fassade und Gartenanschluss planen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